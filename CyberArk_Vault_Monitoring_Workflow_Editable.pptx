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>
                <a:solidFill>
                  <a:srgbClr val="1F4F79"/>
                </a:solidFill>
                <a:latin typeface="Aptos"/>
              </a:rPr>
              <a:t>CyberArk Vault Monitoring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06240" y="658368"/>
            <a:ext cx="3749039" cy="27432"/>
          </a:xfrm>
          <a:prstGeom prst="rect">
            <a:avLst/>
          </a:prstGeom>
          <a:solidFill>
            <a:srgbClr val="1F4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1920240" cy="658368"/>
          </a:xfrm>
          <a:prstGeom prst="roundRect">
            <a:avLst/>
          </a:prstGeom>
          <a:solidFill>
            <a:srgbClr val="FFF3CD"/>
          </a:solidFill>
          <a:ln w="19050">
            <a:solidFill>
              <a:srgbClr val="1F4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262626"/>
                </a:solidFill>
                <a:latin typeface="Aptos"/>
              </a:rPr>
              <a:t>Active Vault Servers</a:t>
            </a:r>
            <a:br/>
            <a:r>
              <a:rPr sz="1100" b="1">
                <a:solidFill>
                  <a:srgbClr val="262626"/>
                </a:solidFill>
                <a:latin typeface="Aptos"/>
              </a:rPr>
              <a:t>PAR Agent installed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03120"/>
            <a:ext cx="1920240" cy="658368"/>
          </a:xfrm>
          <a:prstGeom prst="roundRect">
            <a:avLst/>
          </a:prstGeom>
          <a:solidFill>
            <a:srgbClr val="FFF3CD"/>
          </a:solidFill>
          <a:ln w="19050">
            <a:solidFill>
              <a:srgbClr val="1F4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262626"/>
                </a:solidFill>
                <a:latin typeface="Aptos"/>
              </a:rPr>
              <a:t>DR Vault Servers</a:t>
            </a:r>
            <a:br/>
            <a:r>
              <a:rPr sz="1100" b="1">
                <a:solidFill>
                  <a:srgbClr val="262626"/>
                </a:solidFill>
                <a:latin typeface="Aptos"/>
              </a:rPr>
              <a:t>PAR Agent installed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325880"/>
            <a:ext cx="2359152" cy="1170432"/>
          </a:xfrm>
          <a:prstGeom prst="roundRect">
            <a:avLst/>
          </a:prstGeom>
          <a:solidFill>
            <a:srgbClr val="E2F0FD"/>
          </a:solidFill>
          <a:ln w="19050">
            <a:solidFill>
              <a:srgbClr val="1F4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19" b="1">
                <a:solidFill>
                  <a:srgbClr val="262626"/>
                </a:solidFill>
                <a:latin typeface="Aptos"/>
              </a:rPr>
              <a:t>Remote EC2 Monitoring Server</a:t>
            </a:r>
            <a:br/>
            <a:r>
              <a:rPr sz="1019" b="1">
                <a:solidFill>
                  <a:srgbClr val="262626"/>
                </a:solidFill>
                <a:latin typeface="Aptos"/>
              </a:rPr>
              <a:t>PARClient + VaultControl module</a:t>
            </a:r>
            <a:br/>
            <a:r>
              <a:rPr sz="1019" b="1">
                <a:solidFill>
                  <a:srgbClr val="262626"/>
                </a:solidFill>
                <a:latin typeface="Aptos"/>
              </a:rPr>
              <a:t>TCP 9022 connectivity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25312" y="1024128"/>
            <a:ext cx="2057400" cy="621792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1F4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Aptos"/>
              </a:rPr>
              <a:t>Input CSV Files</a:t>
            </a:r>
            <a:br/>
            <a:r>
              <a:rPr sz="1100" b="0">
                <a:solidFill>
                  <a:srgbClr val="262626"/>
                </a:solidFill>
                <a:latin typeface="Aptos"/>
              </a:rPr>
              <a:t>Prod + DR inventory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25312" y="1901952"/>
            <a:ext cx="2057400" cy="749808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1F4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0">
                <a:solidFill>
                  <a:srgbClr val="262626"/>
                </a:solidFill>
                <a:latin typeface="Aptos"/>
              </a:rPr>
              <a:t>PowerShell Monitoring Scripts</a:t>
            </a:r>
            <a:br/>
            <a:r>
              <a:rPr sz="1050" b="0">
                <a:solidFill>
                  <a:srgbClr val="262626"/>
                </a:solidFill>
                <a:latin typeface="Aptos"/>
              </a:rPr>
              <a:t>Services, resources,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03320"/>
            <a:ext cx="2148840" cy="1225296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1F4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Aptos"/>
              </a:rPr>
              <a:t>Monitored Criteria</a:t>
            </a:r>
            <a:br/>
            <a:r>
              <a:rPr sz="1000" b="0">
                <a:solidFill>
                  <a:srgbClr val="262626"/>
                </a:solidFill>
                <a:latin typeface="Aptos"/>
              </a:rPr>
              <a:t>• Service stopped</a:t>
            </a:r>
            <a:br/>
            <a:r>
              <a:rPr sz="1000" b="0">
                <a:solidFill>
                  <a:srgbClr val="262626"/>
                </a:solidFill>
                <a:latin typeface="Aptos"/>
              </a:rPr>
              <a:t>• CPU / memory &gt; 85%</a:t>
            </a:r>
            <a:br/>
            <a:r>
              <a:rPr sz="1000" b="0">
                <a:solidFill>
                  <a:srgbClr val="262626"/>
                </a:solidFill>
                <a:latin typeface="Aptos"/>
              </a:rPr>
              <a:t>• Disk usage &gt; 85%</a:t>
            </a:r>
            <a:br/>
            <a:r>
              <a:rPr sz="1000" b="0">
                <a:solidFill>
                  <a:srgbClr val="262626"/>
                </a:solidFill>
                <a:latin typeface="Aptos"/>
              </a:rPr>
              <a:t>• ITALog / PADRLOG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25312" y="3090672"/>
            <a:ext cx="2057400" cy="713232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1F4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Aptos"/>
              </a:rPr>
              <a:t>Windows Application</a:t>
            </a:r>
            <a:br/>
            <a:r>
              <a:rPr sz="1100" b="0">
                <a:solidFill>
                  <a:srgbClr val="262626"/>
                </a:solidFill>
                <a:latin typeface="Aptos"/>
              </a:rPr>
              <a:t>Event Viewer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090672"/>
            <a:ext cx="1755648" cy="713232"/>
          </a:xfrm>
          <a:prstGeom prst="roundRect">
            <a:avLst/>
          </a:prstGeom>
          <a:solidFill>
            <a:srgbClr val="E6E0F1"/>
          </a:solidFill>
          <a:ln w="19050">
            <a:solidFill>
              <a:srgbClr val="1F4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50" b="0">
                <a:solidFill>
                  <a:srgbClr val="262626"/>
                </a:solidFill>
                <a:latin typeface="Aptos"/>
              </a:rPr>
              <a:t>CloudWatch Agent</a:t>
            </a:r>
            <a:br/>
            <a:r>
              <a:rPr sz="1050" b="0">
                <a:solidFill>
                  <a:srgbClr val="262626"/>
                </a:solidFill>
                <a:latin typeface="Aptos"/>
              </a:rPr>
              <a:t>fetches event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187952"/>
            <a:ext cx="1755648" cy="758952"/>
          </a:xfrm>
          <a:prstGeom prst="roundRect">
            <a:avLst/>
          </a:prstGeom>
          <a:solidFill>
            <a:srgbClr val="E6E0F1"/>
          </a:solidFill>
          <a:ln w="19050">
            <a:solidFill>
              <a:srgbClr val="1F4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Aptos"/>
              </a:rPr>
              <a:t>Splunk</a:t>
            </a:r>
            <a:br/>
            <a:r>
              <a:rPr sz="1000" b="0">
                <a:solidFill>
                  <a:srgbClr val="262626"/>
                </a:solidFill>
                <a:latin typeface="Aptos"/>
              </a:rPr>
              <a:t>indexes, dashboards,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78440" y="4187952"/>
            <a:ext cx="1417320" cy="758952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1F4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Aptos"/>
              </a:rPr>
              <a:t>TOC / PAM</a:t>
            </a:r>
            <a:br/>
            <a:r>
              <a:rPr sz="1000" b="0">
                <a:solidFill>
                  <a:srgbClr val="262626"/>
                </a:solidFill>
                <a:latin typeface="Aptos"/>
              </a:rPr>
              <a:t>alert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5330952"/>
            <a:ext cx="2240280" cy="667512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1F4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0">
                <a:solidFill>
                  <a:srgbClr val="262626"/>
                </a:solidFill>
                <a:latin typeface="Aptos"/>
              </a:rPr>
              <a:t>DevOps monitor-as-code</a:t>
            </a:r>
            <a:br/>
            <a:r>
              <a:rPr sz="1000" b="0">
                <a:solidFill>
                  <a:srgbClr val="262626"/>
                </a:solidFill>
                <a:latin typeface="Aptos"/>
              </a:rPr>
              <a:t>Sentinus alert path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1472184"/>
            <a:ext cx="640080" cy="219456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331720" y="2011680"/>
            <a:ext cx="640080" cy="420624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23744" y="130759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>
                <a:solidFill>
                  <a:srgbClr val="262626"/>
                </a:solidFill>
                <a:latin typeface="Aptos"/>
              </a:rPr>
              <a:t>9022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2121408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>
                <a:solidFill>
                  <a:srgbClr val="262626"/>
                </a:solidFill>
                <a:latin typeface="Aptos"/>
              </a:rPr>
              <a:t>9022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330952" y="1335024"/>
            <a:ext cx="594360" cy="310896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13248" y="1380744"/>
            <a:ext cx="5943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>
                <a:solidFill>
                  <a:srgbClr val="262626"/>
                </a:solidFill>
                <a:latin typeface="Aptos"/>
              </a:rPr>
              <a:t>Reads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30952" y="2011680"/>
            <a:ext cx="594360" cy="256032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13248" y="1874519"/>
            <a:ext cx="5486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>
                <a:solidFill>
                  <a:srgbClr val="262626"/>
                </a:solidFill>
                <a:latin typeface="Aptos"/>
              </a:rPr>
              <a:t>Runs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51760" y="2487168"/>
            <a:ext cx="3273552" cy="1837944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35808" y="3291840"/>
            <a:ext cx="960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>
                <a:solidFill>
                  <a:srgbClr val="262626"/>
                </a:solidFill>
                <a:latin typeface="Aptos"/>
              </a:rPr>
              <a:t>Evaluation rules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58584" y="2651760"/>
            <a:ext cx="0" cy="438912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040880" y="2743200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>
                <a:solidFill>
                  <a:srgbClr val="262626"/>
                </a:solidFill>
                <a:latin typeface="Aptos"/>
              </a:rPr>
              <a:t>Writes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82712" y="3447288"/>
            <a:ext cx="429768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64424" y="3246120"/>
            <a:ext cx="685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>
                <a:solidFill>
                  <a:srgbClr val="262626"/>
                </a:solidFill>
                <a:latin typeface="Aptos"/>
              </a:rPr>
              <a:t>Collects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0304" y="3803904"/>
            <a:ext cx="0" cy="384048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400032" y="3913632"/>
            <a:ext cx="7772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>
                <a:solidFill>
                  <a:srgbClr val="262626"/>
                </a:solidFill>
                <a:latin typeface="Aptos"/>
              </a:rPr>
              <a:t>Forwards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168128" y="4562856"/>
            <a:ext cx="210312" cy="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058400" y="4334256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>
                <a:solidFill>
                  <a:srgbClr val="262626"/>
                </a:solidFill>
                <a:latin typeface="Aptos"/>
              </a:rPr>
              <a:t>Notifies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90304" y="4946904"/>
            <a:ext cx="0" cy="384048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732520" y="5029200"/>
            <a:ext cx="10972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>
                <a:solidFill>
                  <a:srgbClr val="262626"/>
                </a:solidFill>
                <a:latin typeface="Aptos"/>
              </a:rPr>
              <a:t>Future / parallel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6291072"/>
            <a:ext cx="11356848" cy="31089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69" b="0">
                <a:solidFill>
                  <a:srgbClr val="262626"/>
                </a:solidFill>
                <a:latin typeface="Aptos"/>
              </a:rPr>
              <a:t>Note: The script writes events on the remote EC2 monitoring server. CloudWatch collects those Windows Event Viewer logs and forwards them to Splunk. DevOps is working on a monitor-as-code path for Sentinus alerts.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592824"/>
            <a:ext cx="11887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>
                <a:solidFill>
                  <a:srgbClr val="646464"/>
                </a:solidFill>
                <a:latin typeface="Aptos"/>
              </a:rPr>
              <a:t>Editable PowerPoint diagram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